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notesSlides/notesSlide15.xml" ContentType="application/vnd.openxmlformats-officedocument.presentationml.notesSlide+xml"/>
  <Override PartName="/ppt/charts/chart10.xml" ContentType="application/vnd.openxmlformats-officedocument.drawingml.chart+xml"/>
  <Override PartName="/ppt/notesSlides/notesSlide16.xml" ContentType="application/vnd.openxmlformats-officedocument.presentationml.notesSlide+xml"/>
  <Override PartName="/ppt/charts/chart11.xml" ContentType="application/vnd.openxmlformats-officedocument.drawingml.chart+xml"/>
  <Override PartName="/ppt/notesSlides/notesSlide17.xml" ContentType="application/vnd.openxmlformats-officedocument.presentationml.notesSlide+xml"/>
  <Override PartName="/ppt/charts/chart12.xml" ContentType="application/vnd.openxmlformats-officedocument.drawingml.chart+xml"/>
  <Override PartName="/ppt/notesSlides/notesSlide18.xml" ContentType="application/vnd.openxmlformats-officedocument.presentationml.notesSlide+xml"/>
  <Override PartName="/ppt/charts/chart13.xml" ContentType="application/vnd.openxmlformats-officedocument.drawingml.chart+xml"/>
  <Override PartName="/ppt/notesSlides/notesSlide19.xml" ContentType="application/vnd.openxmlformats-officedocument.presentationml.notesSlide+xml"/>
  <Override PartName="/ppt/charts/chart14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D2E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F49-A649-959C-82BAC4B508E2}"/>
              </c:ext>
            </c:extLst>
          </c:dPt>
          <c:dPt>
            <c:idx val="1"/>
            <c:bubble3D val="0"/>
            <c:spPr>
              <a:solidFill>
                <a:srgbClr val="A267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49-A649-959C-82BAC4B508E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F49-A649-959C-82BAC4B508E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F49-A649-959C-82BAC4B508E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广电路店</c:v>
                </c:pt>
                <c:pt idx="1">
                  <c:v>玉兰店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47460.5</c:v>
                </c:pt>
                <c:pt idx="1">
                  <c:v>52690.7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49-A649-959C-82BAC4B508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B1B2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2026累计</c:v>
                </c:pt>
              </c:strCache>
            </c:strRef>
          </c:tx>
          <c:spPr>
            <a:solidFill>
              <a:srgbClr val="C8A0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B1B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广电路店</c:v>
                </c:pt>
                <c:pt idx="1">
                  <c:v>玉兰店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264339.3</c:v>
                </c:pt>
                <c:pt idx="1">
                  <c:v>127559.3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5D-7F4E-A2D6-9250F877EA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日均业绩(元)</c:v>
                </c:pt>
              </c:strCache>
            </c:strRef>
          </c:tx>
          <c:spPr>
            <a:solidFill>
              <a:srgbClr val="A26769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267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1BA-AD4D-93AC-AB35D8681881}"/>
              </c:ext>
            </c:extLst>
          </c:dPt>
          <c:dPt>
            <c:idx val="1"/>
            <c:invertIfNegative val="0"/>
            <c:bubble3D val="0"/>
            <c:spPr>
              <a:solidFill>
                <a:srgbClr val="C8A0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1BA-AD4D-93AC-AB35D868188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B1B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搬店前 (定安路)</c:v>
                </c:pt>
                <c:pt idx="1">
                  <c:v>搬店后 (广电路)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1599.87</c:v>
                </c:pt>
                <c:pt idx="1">
                  <c:v>1732.91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1BA-AD4D-93AC-AB35D86818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B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广电路店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B1B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晴天</c:v>
                </c:pt>
                <c:pt idx="1">
                  <c:v>多云/阴</c:v>
                </c:pt>
                <c:pt idx="2">
                  <c:v>雨天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66.7</c:v>
                </c:pt>
                <c:pt idx="2">
                  <c:v>93.3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31-D346-A91E-F21204BF48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玉兰店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B1B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晴天</c:v>
                </c:pt>
                <c:pt idx="1">
                  <c:v>多云/阴</c:v>
                </c:pt>
                <c:pt idx="2">
                  <c:v>雨天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87.5</c:v>
                </c:pt>
                <c:pt idx="1">
                  <c:v>100</c:v>
                </c:pt>
                <c:pt idx="2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31-D346-A91E-F21204BF48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B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2B1B2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广电路店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B1B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晴天</c:v>
                </c:pt>
                <c:pt idx="1">
                  <c:v>多云/阴</c:v>
                </c:pt>
                <c:pt idx="2">
                  <c:v>雨天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1716.41</c:v>
                </c:pt>
                <c:pt idx="1">
                  <c:v>400.57</c:v>
                </c:pt>
                <c:pt idx="2">
                  <c:v>2088.39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B2-F94B-AE15-520CEAA678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玉兰店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B1B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晴天</c:v>
                </c:pt>
                <c:pt idx="1">
                  <c:v>多云/阴</c:v>
                </c:pt>
                <c:pt idx="2">
                  <c:v>雨天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325.10000000000002</c:v>
                </c:pt>
                <c:pt idx="1">
                  <c:v>2232.3200000000002</c:v>
                </c:pt>
                <c:pt idx="2">
                  <c:v>2446.4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B2-F94B-AE15-520CEAA678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B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2B1B2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日业绩(元)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2B1B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Sheet1!$A$2:$A$30</c:f>
              <c:strCache>
                <c:ptCount val="29"/>
                <c:pt idx="0">
                  <c:v>4/1</c:v>
                </c:pt>
                <c:pt idx="1">
                  <c:v>4/2</c:v>
                </c:pt>
                <c:pt idx="2">
                  <c:v>4/3</c:v>
                </c:pt>
                <c:pt idx="3">
                  <c:v>4/4</c:v>
                </c:pt>
                <c:pt idx="4">
                  <c:v>4/5</c:v>
                </c:pt>
                <c:pt idx="5">
                  <c:v>4/6</c:v>
                </c:pt>
                <c:pt idx="6">
                  <c:v>4/7</c:v>
                </c:pt>
                <c:pt idx="7">
                  <c:v>4/8</c:v>
                </c:pt>
                <c:pt idx="8">
                  <c:v>4/9</c:v>
                </c:pt>
                <c:pt idx="9">
                  <c:v>4/10</c:v>
                </c:pt>
                <c:pt idx="10">
                  <c:v>4/11</c:v>
                </c:pt>
                <c:pt idx="11">
                  <c:v>4/12</c:v>
                </c:pt>
                <c:pt idx="12">
                  <c:v>4/13</c:v>
                </c:pt>
                <c:pt idx="13">
                  <c:v>4/14</c:v>
                </c:pt>
                <c:pt idx="14">
                  <c:v>4/15</c:v>
                </c:pt>
                <c:pt idx="15">
                  <c:v>4/16</c:v>
                </c:pt>
                <c:pt idx="16">
                  <c:v>4/17</c:v>
                </c:pt>
                <c:pt idx="17">
                  <c:v>4/18</c:v>
                </c:pt>
                <c:pt idx="18">
                  <c:v>4/19</c:v>
                </c:pt>
                <c:pt idx="19">
                  <c:v>4/20</c:v>
                </c:pt>
                <c:pt idx="20">
                  <c:v>4/21</c:v>
                </c:pt>
                <c:pt idx="21">
                  <c:v>4/22</c:v>
                </c:pt>
                <c:pt idx="22">
                  <c:v>4/23</c:v>
                </c:pt>
                <c:pt idx="23">
                  <c:v>4/24</c:v>
                </c:pt>
                <c:pt idx="24">
                  <c:v>4/25</c:v>
                </c:pt>
                <c:pt idx="25">
                  <c:v>4/26</c:v>
                </c:pt>
                <c:pt idx="26">
                  <c:v>4/27</c:v>
                </c:pt>
                <c:pt idx="27">
                  <c:v>4/28</c:v>
                </c:pt>
                <c:pt idx="28">
                  <c:v>4/29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266</c:v>
                </c:pt>
                <c:pt idx="1">
                  <c:v>3110</c:v>
                </c:pt>
                <c:pt idx="2">
                  <c:v>2330</c:v>
                </c:pt>
                <c:pt idx="3">
                  <c:v>5000</c:v>
                </c:pt>
                <c:pt idx="4">
                  <c:v>2233.6999999999998</c:v>
                </c:pt>
                <c:pt idx="5">
                  <c:v>89.8</c:v>
                </c:pt>
                <c:pt idx="6">
                  <c:v>0</c:v>
                </c:pt>
                <c:pt idx="7">
                  <c:v>540</c:v>
                </c:pt>
                <c:pt idx="8">
                  <c:v>58.9</c:v>
                </c:pt>
                <c:pt idx="9">
                  <c:v>0</c:v>
                </c:pt>
                <c:pt idx="10">
                  <c:v>1020</c:v>
                </c:pt>
                <c:pt idx="11">
                  <c:v>11059</c:v>
                </c:pt>
                <c:pt idx="12">
                  <c:v>3086.9</c:v>
                </c:pt>
                <c:pt idx="13">
                  <c:v>1000</c:v>
                </c:pt>
                <c:pt idx="14">
                  <c:v>103</c:v>
                </c:pt>
                <c:pt idx="15">
                  <c:v>1140</c:v>
                </c:pt>
                <c:pt idx="16">
                  <c:v>0</c:v>
                </c:pt>
                <c:pt idx="17">
                  <c:v>161.9</c:v>
                </c:pt>
                <c:pt idx="18">
                  <c:v>0</c:v>
                </c:pt>
                <c:pt idx="19">
                  <c:v>20</c:v>
                </c:pt>
                <c:pt idx="20">
                  <c:v>2378</c:v>
                </c:pt>
                <c:pt idx="21">
                  <c:v>600</c:v>
                </c:pt>
                <c:pt idx="22">
                  <c:v>3680</c:v>
                </c:pt>
                <c:pt idx="23">
                  <c:v>1133.4000000000001</c:v>
                </c:pt>
                <c:pt idx="24">
                  <c:v>3490</c:v>
                </c:pt>
                <c:pt idx="25">
                  <c:v>59.9</c:v>
                </c:pt>
                <c:pt idx="26">
                  <c:v>2000</c:v>
                </c:pt>
                <c:pt idx="27">
                  <c:v>0</c:v>
                </c:pt>
                <c:pt idx="28">
                  <c:v>2900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44-9F4A-B85D-17B4187533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1B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日业绩(元)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2B1B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Sheet1!$A$2:$A$30</c:f>
              <c:strCache>
                <c:ptCount val="29"/>
                <c:pt idx="0">
                  <c:v>4/1</c:v>
                </c:pt>
                <c:pt idx="1">
                  <c:v>4/2</c:v>
                </c:pt>
                <c:pt idx="2">
                  <c:v>4/3</c:v>
                </c:pt>
                <c:pt idx="3">
                  <c:v>4/4</c:v>
                </c:pt>
                <c:pt idx="4">
                  <c:v>4/5</c:v>
                </c:pt>
                <c:pt idx="5">
                  <c:v>4/6</c:v>
                </c:pt>
                <c:pt idx="6">
                  <c:v>4/7</c:v>
                </c:pt>
                <c:pt idx="7">
                  <c:v>4/8</c:v>
                </c:pt>
                <c:pt idx="8">
                  <c:v>4/9</c:v>
                </c:pt>
                <c:pt idx="9">
                  <c:v>4/10</c:v>
                </c:pt>
                <c:pt idx="10">
                  <c:v>4/11</c:v>
                </c:pt>
                <c:pt idx="11">
                  <c:v>4/12</c:v>
                </c:pt>
                <c:pt idx="12">
                  <c:v>4/13</c:v>
                </c:pt>
                <c:pt idx="13">
                  <c:v>4/14</c:v>
                </c:pt>
                <c:pt idx="14">
                  <c:v>4/15</c:v>
                </c:pt>
                <c:pt idx="15">
                  <c:v>4/16</c:v>
                </c:pt>
                <c:pt idx="16">
                  <c:v>4/17</c:v>
                </c:pt>
                <c:pt idx="17">
                  <c:v>4/18</c:v>
                </c:pt>
                <c:pt idx="18">
                  <c:v>4/19</c:v>
                </c:pt>
                <c:pt idx="19">
                  <c:v>4/20</c:v>
                </c:pt>
                <c:pt idx="20">
                  <c:v>4/21</c:v>
                </c:pt>
                <c:pt idx="21">
                  <c:v>4/22</c:v>
                </c:pt>
                <c:pt idx="22">
                  <c:v>4/23</c:v>
                </c:pt>
                <c:pt idx="23">
                  <c:v>4/24</c:v>
                </c:pt>
                <c:pt idx="24">
                  <c:v>4/25</c:v>
                </c:pt>
                <c:pt idx="25">
                  <c:v>4/26</c:v>
                </c:pt>
                <c:pt idx="26">
                  <c:v>4/27</c:v>
                </c:pt>
                <c:pt idx="27">
                  <c:v>4/28</c:v>
                </c:pt>
                <c:pt idx="28">
                  <c:v>4/29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790</c:v>
                </c:pt>
                <c:pt idx="1">
                  <c:v>0</c:v>
                </c:pt>
                <c:pt idx="2">
                  <c:v>858</c:v>
                </c:pt>
                <c:pt idx="3">
                  <c:v>853</c:v>
                </c:pt>
                <c:pt idx="4">
                  <c:v>4635.8999999999996</c:v>
                </c:pt>
                <c:pt idx="5">
                  <c:v>4750</c:v>
                </c:pt>
                <c:pt idx="6">
                  <c:v>40</c:v>
                </c:pt>
                <c:pt idx="7">
                  <c:v>31350</c:v>
                </c:pt>
                <c:pt idx="8">
                  <c:v>0</c:v>
                </c:pt>
                <c:pt idx="9">
                  <c:v>89</c:v>
                </c:pt>
                <c:pt idx="10">
                  <c:v>2440</c:v>
                </c:pt>
                <c:pt idx="11">
                  <c:v>0</c:v>
                </c:pt>
                <c:pt idx="12">
                  <c:v>239.7</c:v>
                </c:pt>
                <c:pt idx="13">
                  <c:v>96.8</c:v>
                </c:pt>
                <c:pt idx="14">
                  <c:v>39.799999999999997</c:v>
                </c:pt>
                <c:pt idx="15">
                  <c:v>1070</c:v>
                </c:pt>
                <c:pt idx="16">
                  <c:v>1272</c:v>
                </c:pt>
                <c:pt idx="17">
                  <c:v>793.9</c:v>
                </c:pt>
                <c:pt idx="18">
                  <c:v>0</c:v>
                </c:pt>
                <c:pt idx="19">
                  <c:v>2570</c:v>
                </c:pt>
                <c:pt idx="20">
                  <c:v>529.9</c:v>
                </c:pt>
                <c:pt idx="21">
                  <c:v>0</c:v>
                </c:pt>
                <c:pt idx="22">
                  <c:v>20</c:v>
                </c:pt>
                <c:pt idx="23">
                  <c:v>34.9</c:v>
                </c:pt>
                <c:pt idx="24">
                  <c:v>20</c:v>
                </c:pt>
                <c:pt idx="25">
                  <c:v>126</c:v>
                </c:pt>
                <c:pt idx="26">
                  <c:v>0</c:v>
                </c:pt>
                <c:pt idx="27">
                  <c:v>0</c:v>
                </c:pt>
                <c:pt idx="28">
                  <c:v>71.8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CB-2942-9D9B-EF5C7A10D3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1B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日业绩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cat>
            <c:strRef>
              <c:f>Sheet1!$A$2:$A$30</c:f>
              <c:strCache>
                <c:ptCount val="2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2050</c:v>
                </c:pt>
                <c:pt idx="1">
                  <c:v>70</c:v>
                </c:pt>
                <c:pt idx="2">
                  <c:v>0</c:v>
                </c:pt>
                <c:pt idx="3">
                  <c:v>2980</c:v>
                </c:pt>
                <c:pt idx="4">
                  <c:v>0</c:v>
                </c:pt>
                <c:pt idx="5">
                  <c:v>69.900000000000006</c:v>
                </c:pt>
                <c:pt idx="6">
                  <c:v>0</c:v>
                </c:pt>
                <c:pt idx="7">
                  <c:v>500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9020</c:v>
                </c:pt>
                <c:pt idx="12">
                  <c:v>36.9</c:v>
                </c:pt>
                <c:pt idx="13">
                  <c:v>1000</c:v>
                </c:pt>
                <c:pt idx="14">
                  <c:v>0</c:v>
                </c:pt>
                <c:pt idx="15">
                  <c:v>1100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3680</c:v>
                </c:pt>
                <c:pt idx="23">
                  <c:v>1038</c:v>
                </c:pt>
                <c:pt idx="24">
                  <c:v>0</c:v>
                </c:pt>
                <c:pt idx="25">
                  <c:v>0</c:v>
                </c:pt>
                <c:pt idx="26">
                  <c:v>1980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F7-E641-A77B-BACFF74880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B1B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日业绩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cat>
            <c:strRef>
              <c:f>Sheet1!$A$2:$A$30</c:f>
              <c:strCache>
                <c:ptCount val="2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120</c:v>
                </c:pt>
                <c:pt idx="1">
                  <c:v>3040</c:v>
                </c:pt>
                <c:pt idx="2">
                  <c:v>2330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20</c:v>
                </c:pt>
                <c:pt idx="12">
                  <c:v>2050</c:v>
                </c:pt>
                <c:pt idx="13">
                  <c:v>0</c:v>
                </c:pt>
                <c:pt idx="14">
                  <c:v>103</c:v>
                </c:pt>
                <c:pt idx="15">
                  <c:v>40</c:v>
                </c:pt>
                <c:pt idx="16">
                  <c:v>0</c:v>
                </c:pt>
                <c:pt idx="17">
                  <c:v>161.9</c:v>
                </c:pt>
                <c:pt idx="18">
                  <c:v>0</c:v>
                </c:pt>
                <c:pt idx="19">
                  <c:v>0</c:v>
                </c:pt>
                <c:pt idx="20">
                  <c:v>398</c:v>
                </c:pt>
                <c:pt idx="21">
                  <c:v>600</c:v>
                </c:pt>
                <c:pt idx="22">
                  <c:v>0</c:v>
                </c:pt>
                <c:pt idx="23">
                  <c:v>95.4</c:v>
                </c:pt>
                <c:pt idx="24">
                  <c:v>3150</c:v>
                </c:pt>
                <c:pt idx="25">
                  <c:v>0</c:v>
                </c:pt>
                <c:pt idx="26">
                  <c:v>10</c:v>
                </c:pt>
                <c:pt idx="27">
                  <c:v>0</c:v>
                </c:pt>
                <c:pt idx="28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F7-9F4C-8140-525A02088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B1B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日业绩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cat>
            <c:strRef>
              <c:f>Sheet1!$A$2:$A$30</c:f>
              <c:strCache>
                <c:ptCount val="2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770</c:v>
                </c:pt>
                <c:pt idx="1">
                  <c:v>0</c:v>
                </c:pt>
                <c:pt idx="2">
                  <c:v>0</c:v>
                </c:pt>
                <c:pt idx="3">
                  <c:v>33</c:v>
                </c:pt>
                <c:pt idx="4">
                  <c:v>69.900000000000006</c:v>
                </c:pt>
                <c:pt idx="5">
                  <c:v>0</c:v>
                </c:pt>
                <c:pt idx="6">
                  <c:v>20</c:v>
                </c:pt>
                <c:pt idx="7">
                  <c:v>0</c:v>
                </c:pt>
                <c:pt idx="8">
                  <c:v>0</c:v>
                </c:pt>
                <c:pt idx="9">
                  <c:v>89</c:v>
                </c:pt>
                <c:pt idx="10">
                  <c:v>120</c:v>
                </c:pt>
                <c:pt idx="11">
                  <c:v>0</c:v>
                </c:pt>
                <c:pt idx="12">
                  <c:v>35</c:v>
                </c:pt>
                <c:pt idx="13">
                  <c:v>96.8</c:v>
                </c:pt>
                <c:pt idx="14">
                  <c:v>0</c:v>
                </c:pt>
                <c:pt idx="15">
                  <c:v>35</c:v>
                </c:pt>
                <c:pt idx="16">
                  <c:v>600</c:v>
                </c:pt>
                <c:pt idx="17">
                  <c:v>39.9</c:v>
                </c:pt>
                <c:pt idx="18">
                  <c:v>0</c:v>
                </c:pt>
                <c:pt idx="19">
                  <c:v>0</c:v>
                </c:pt>
                <c:pt idx="20">
                  <c:v>500</c:v>
                </c:pt>
                <c:pt idx="21">
                  <c:v>0</c:v>
                </c:pt>
                <c:pt idx="22">
                  <c:v>0</c:v>
                </c:pt>
                <c:pt idx="23">
                  <c:v>34.9</c:v>
                </c:pt>
                <c:pt idx="24">
                  <c:v>20</c:v>
                </c:pt>
                <c:pt idx="25">
                  <c:v>63</c:v>
                </c:pt>
                <c:pt idx="26">
                  <c:v>0</c:v>
                </c:pt>
                <c:pt idx="27">
                  <c:v>0</c:v>
                </c:pt>
                <c:pt idx="28">
                  <c:v>35.9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A8-D842-A01E-25FCD7304E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B1B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日业绩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cat>
            <c:strRef>
              <c:f>Sheet1!$A$2:$A$30</c:f>
              <c:strCache>
                <c:ptCount val="2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20</c:v>
                </c:pt>
                <c:pt idx="1">
                  <c:v>0</c:v>
                </c:pt>
                <c:pt idx="2">
                  <c:v>800</c:v>
                </c:pt>
                <c:pt idx="3">
                  <c:v>0</c:v>
                </c:pt>
                <c:pt idx="4">
                  <c:v>0</c:v>
                </c:pt>
                <c:pt idx="5">
                  <c:v>750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100</c:v>
                </c:pt>
                <c:pt idx="11">
                  <c:v>0</c:v>
                </c:pt>
                <c:pt idx="12">
                  <c:v>144.9</c:v>
                </c:pt>
                <c:pt idx="13">
                  <c:v>0</c:v>
                </c:pt>
                <c:pt idx="14">
                  <c:v>19.899999999999999</c:v>
                </c:pt>
                <c:pt idx="15">
                  <c:v>0</c:v>
                </c:pt>
                <c:pt idx="16">
                  <c:v>600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35.9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06-F145-85B2-901357A469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B1B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日业绩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cat>
            <c:strRef>
              <c:f>Sheet1!$A$2:$A$30</c:f>
              <c:strCache>
                <c:ptCount val="2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1980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40</c:v>
                </c:pt>
                <c:pt idx="25">
                  <c:v>0</c:v>
                </c:pt>
                <c:pt idx="26">
                  <c:v>10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27-FB44-A95E-464C91F76F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B1B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日业绩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cat>
            <c:strRef>
              <c:f>Sheet1!$A$2:$A$30</c:f>
              <c:strCache>
                <c:ptCount val="2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58</c:v>
                </c:pt>
                <c:pt idx="3">
                  <c:v>820</c:v>
                </c:pt>
                <c:pt idx="4">
                  <c:v>0</c:v>
                </c:pt>
                <c:pt idx="5">
                  <c:v>0</c:v>
                </c:pt>
                <c:pt idx="6">
                  <c:v>20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59.8</c:v>
                </c:pt>
                <c:pt idx="13">
                  <c:v>0</c:v>
                </c:pt>
                <c:pt idx="14">
                  <c:v>19.899999999999999</c:v>
                </c:pt>
                <c:pt idx="15">
                  <c:v>0</c:v>
                </c:pt>
                <c:pt idx="16">
                  <c:v>46</c:v>
                </c:pt>
                <c:pt idx="17">
                  <c:v>700</c:v>
                </c:pt>
                <c:pt idx="18">
                  <c:v>0</c:v>
                </c:pt>
                <c:pt idx="19">
                  <c:v>0</c:v>
                </c:pt>
                <c:pt idx="20">
                  <c:v>29.9</c:v>
                </c:pt>
                <c:pt idx="21">
                  <c:v>0</c:v>
                </c:pt>
                <c:pt idx="22">
                  <c:v>20</c:v>
                </c:pt>
                <c:pt idx="23">
                  <c:v>0</c:v>
                </c:pt>
                <c:pt idx="24">
                  <c:v>0</c:v>
                </c:pt>
                <c:pt idx="25">
                  <c:v>63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2C-E141-80A3-B1CCDD6981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B1B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日业绩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cat>
            <c:strRef>
              <c:f>Sheet1!$A$2:$A$30</c:f>
              <c:strCache>
                <c:ptCount val="2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500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20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300</c:v>
                </c:pt>
                <c:pt idx="25">
                  <c:v>39.9</c:v>
                </c:pt>
                <c:pt idx="26">
                  <c:v>0</c:v>
                </c:pt>
                <c:pt idx="27">
                  <c:v>0</c:v>
                </c:pt>
                <c:pt idx="28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71-A141-9D30-D32D33D42D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B1B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2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3539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A26769">
              <a:alpha val="40000"/>
            </a:srgbClr>
          </a:solidFill>
          <a:ln w="12700">
            <a:solidFill>
              <a:srgbClr val="A2676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C8A064">
              <a:alpha val="30000"/>
            </a:srgbClr>
          </a:solidFill>
          <a:ln w="12700">
            <a:solidFill>
              <a:srgbClr val="C8A06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妆宜美容生活馆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800" dirty="0">
                <a:solidFill>
                  <a:srgbClr val="C8A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ZHUANGYI BEAUTY SALON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371600" cy="36576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年 4 月  ·  业 绩 汇 报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PERFORMANCE REPORT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统计周期：2026年4月1日 — 4月29日（数据截止当日）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A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广电路店  ·  玉兰店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特别说明：4月22日由 定安路店 整体迁至 广电路店 新址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  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6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3152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全店总业绩概览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2880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两店本月及累计业绩汇总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73152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6459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498080" y="1691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搬店专题分析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9808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4月22日定安路→广电路前后对比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73152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828800" y="2834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晴 / 阴 / 雨成交率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2880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天气与业绩关联分析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69748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2697480"/>
            <a:ext cx="73152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27889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7498080" y="2834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每日业绩走势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广电路店 · 玉兰店趋势图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73152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39319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1828800" y="3977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员工业绩排名与项目统计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82880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服务次数 · 成交率 · 业绩排名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84048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0" y="3840480"/>
            <a:ext cx="73152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6520" y="39319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7498080" y="3977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个人详细业绩分析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49808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每位员工每日业绩与亮点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98348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8640" y="4983480"/>
            <a:ext cx="73152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" y="50749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1828800" y="5120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本月业绩汇总与亮点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828800" y="5532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店铺总业绩与关键指标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全店总业绩概览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OVERVIEW — APRIL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两店月度总业绩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¥100,151.2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4月1日—4月29日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9272" y="146304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19272" y="146304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56432" y="1691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两店2026年累计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0712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¥391,898.6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56432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6432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1月—4月累计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146304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81344" y="146304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18504" y="1691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广电路店月业绩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72784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¥47,460.5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18504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8504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（含4/22前定安路店）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43416" y="146304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043416" y="146304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80576" y="1691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玉兰店月业绩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34856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¥52,690.7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80576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80576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保持稳定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两店月业绩占比</a:t>
            </a:r>
            <a:endParaRPr lang="en-US" sz="16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457200" y="4434840"/>
          <a:ext cx="54864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 27"/>
          <p:cNvSpPr/>
          <p:nvPr/>
        </p:nvSpPr>
        <p:spPr>
          <a:xfrm>
            <a:off x="6400800" y="3931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两店2026年累计对比</a:t>
            </a:r>
            <a:endParaRPr lang="en-US" sz="1600" dirty="0"/>
          </a:p>
        </p:txBody>
      </p:sp>
      <p:graphicFrame>
        <p:nvGraphicFramePr>
          <p:cNvPr id="31" name="Chart 1"/>
          <p:cNvGraphicFramePr/>
          <p:nvPr/>
        </p:nvGraphicFramePr>
        <p:xfrm>
          <a:off x="6400800" y="4434840"/>
          <a:ext cx="53035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Shape 2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搬店专题分析  ·  定安路 → 广电路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RELOCATION IMPACT — APRIL 22,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4月22日 · 定安路店整体搬迁至广电路店新址（搬迁日适逢全月最大降雨：38.97mm）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73152" cy="21031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搬店前 · 定安路店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4月1日 — 4月21日（21天）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总业绩 </a:t>
            </a:r>
            <a:r>
              <a:rPr lang="en-US" sz="2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¥33,597.2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日均业绩 </a:t>
            </a:r>
            <a:r>
              <a:rPr lang="en-US" sz="16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¥1,599.87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成交天数 17 / 21 天 ｜ 成交率 81.0%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73152" cy="210312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搬店后 · 广电路店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4月22日 — 4月29日（8天）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9718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总业绩 </a:t>
            </a:r>
            <a:r>
              <a:rPr lang="en-US" sz="2200" b="1" dirty="0">
                <a:solidFill>
                  <a:srgbClr val="C8A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¥13,863.3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日均业绩 </a:t>
            </a:r>
            <a:r>
              <a:rPr lang="en-US" sz="1600" b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¥1,732.91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成交天数 7 / 8 天 ｜ 成交率 87.5%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搬店前后  ·  日均业绩对比</a:t>
            </a:r>
            <a:endParaRPr lang="en-US" sz="16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4846320"/>
          <a:ext cx="68580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7589520" y="4846320"/>
            <a:ext cx="4114800" cy="169164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0" y="4937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搬店亮点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772400" y="5349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日均业绩 </a:t>
            </a:r>
            <a:r>
              <a:rPr lang="en-US" sz="1800" b="1" dirty="0">
                <a:solidFill>
                  <a:srgbClr val="C8A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+8.3%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新址首8日表现稳健，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 4/23 (¥3,680) · 4/25 (¥3,490) · 4/27 (¥2,000)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成为搬迁后业绩支柱日。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晴 / 阴 / 雨  ·  成交率与业绩分析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CORRELATION ANALYSIS — JIANGSU CHANGZHOU HUTANG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10058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270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晴天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/ Clear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1554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51960" y="1417320"/>
            <a:ext cx="73152" cy="1005840"/>
          </a:xfrm>
          <a:prstGeom prst="rect">
            <a:avLst/>
          </a:prstGeom>
          <a:solidFill>
            <a:srgbClr val="8B9DA8"/>
          </a:solidFill>
          <a:ln w="12700">
            <a:solidFill>
              <a:srgbClr val="8B9D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15270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多云 / 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8056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 / Overcast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55080" y="1554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8B9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0" y="1417320"/>
            <a:ext cx="73152" cy="1005840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75320" y="15270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雨天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7532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49840" y="1554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5A7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1014984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514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分类规则：含「雨」描述或日降雨量 ≥5mm 计为雨天；纯晴或晴/多云无雨计为晴天；其余为多云/阴。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按天气分类  ·  店铺成交率（%）</a:t>
            </a:r>
            <a:endParaRPr lang="en-US" sz="14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457200" y="3246120"/>
          <a:ext cx="56692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 22"/>
          <p:cNvSpPr/>
          <p:nvPr/>
        </p:nvSpPr>
        <p:spPr>
          <a:xfrm>
            <a:off x="6400800" y="2834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按天气分类  ·  店铺日均业绩（元）</a:t>
            </a:r>
            <a:endParaRPr lang="en-US" sz="1400" dirty="0"/>
          </a:p>
        </p:txBody>
      </p:sp>
      <p:graphicFrame>
        <p:nvGraphicFramePr>
          <p:cNvPr id="26" name="Chart 1"/>
          <p:cNvGraphicFramePr/>
          <p:nvPr/>
        </p:nvGraphicFramePr>
        <p:xfrm>
          <a:off x="6400800" y="3246120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Shape 2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晴 / 阴 / 雨  ·  详细数据表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VS SALES — DETAILED METRICS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广电路店（含搬店前定安路）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66928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天气类型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天数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成交天数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成交率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总业绩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日均业绩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☀ 晴天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¥13,731.3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¥1,716.41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9D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☁ 多云/阴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¥2,403.4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¥400.57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7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☂ 雨天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¥31,325.8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¥2,088.39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玉兰店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天气类型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天数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成交天数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成交率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总业绩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日均业绩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☀ 晴天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¥2,600.8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¥325.1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9D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☁ 多云/阴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¥13,393.9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¥2,232.32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7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☂ 雨天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¥36,696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¥2,446.4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洞察 · INSIGHT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42976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4008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7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☂ 雨天反而高产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48463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广电路店雨天日均 ¥</a:t>
            </a: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2,088.39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（高于晴天 ¥1,716.41）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雨天客户更倾向室内消费，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停留时间长、连带项目多。</a:t>
            </a:r>
            <a:endParaRPr lang="en-US" sz="1100" dirty="0"/>
          </a:p>
        </p:txBody>
      </p:sp>
      <p:sp>
        <p:nvSpPr>
          <p:cNvPr id="5" name="Shape 9"/>
          <p:cNvSpPr/>
          <p:nvPr/>
        </p:nvSpPr>
        <p:spPr>
          <a:xfrm>
            <a:off x="4251960" y="42976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43484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☀ 晴天成交率高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34840" y="48463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晴天玉兰店成交率高达 </a:t>
            </a: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客流稳定但单值偏低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建议晴天加强连带销售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提升日均产值。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42976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22960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9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☁ 多云/阴的反差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229600" y="48463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玉兰店多云成交率 100%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广电路店多云日均仅 ¥400.57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广电路店在多云天气表现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明显偏弱，需关注客流引流。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4月每日天气与业绩  ·  日历视图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WEATHER × REVENUE CALENDAR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2104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1874520"/>
            <a:ext cx="15087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57800" y="1892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57800" y="20756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19°/10°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57800" y="2258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¥266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57800" y="24231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¥790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66560" y="187452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12280" y="1892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12280" y="20756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21°/10°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12280" y="2258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¥3,110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12280" y="24231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321040" y="187452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1892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20756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17°/14°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366760" y="2258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¥2,330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366760" y="24231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¥858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875520" y="1874520"/>
            <a:ext cx="15087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21240" y="1892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921240" y="20756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20°/14°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921240" y="2258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¥5,000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921240" y="24231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¥853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" y="2651760"/>
            <a:ext cx="1508760" cy="731520"/>
          </a:xfrm>
          <a:prstGeom prst="rect">
            <a:avLst/>
          </a:prstGeom>
          <a:solidFill>
            <a:srgbClr val="EAED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26700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2852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23°/12°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" y="30358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¥2,233.7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4360" y="32004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¥4,635.9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103120" y="2651760"/>
            <a:ext cx="1508760" cy="731520"/>
          </a:xfrm>
          <a:prstGeom prst="rect">
            <a:avLst/>
          </a:prstGeom>
          <a:solidFill>
            <a:srgbClr val="EAED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148840" y="26700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48840" y="2852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22°/15°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148840" y="30358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¥89.8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148840" y="32004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¥4,750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0" y="2651760"/>
            <a:ext cx="1508760" cy="731520"/>
          </a:xfrm>
          <a:prstGeom prst="rect">
            <a:avLst/>
          </a:prstGeom>
          <a:solidFill>
            <a:srgbClr val="EAED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03320" y="26700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03320" y="2852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19°/12°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703320" y="30358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703320" y="32004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¥40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212080" y="265176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257800" y="26700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57800" y="2852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19°/11°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57800" y="30358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¥540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257800" y="32004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¥31,350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766560" y="265176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812280" y="26700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4/9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12280" y="2852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24°/16°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12280" y="30358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¥58.9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12280" y="32004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321040" y="2651760"/>
            <a:ext cx="15087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366760" y="26700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366760" y="2852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22°/15°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366760" y="30358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¥0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366760" y="32004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¥89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875520" y="265176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921240" y="26700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921240" y="2852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20°/16°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9921240" y="30358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¥1,020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921240" y="32004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¥2,440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48640" y="342900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94360" y="34472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4360" y="36301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21°/15°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94360" y="38130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¥11,059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94360" y="39776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¥0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103120" y="342900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148840" y="34472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148840" y="36301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18°/15°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148840" y="38130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¥3,086.9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2148840" y="39776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¥239.7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657600" y="342900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703320" y="34472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703320" y="36301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19°/15°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703320" y="38130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¥1,000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703320" y="39776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¥96.8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212080" y="342900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257800" y="34472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257800" y="36301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20°/15°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257800" y="38130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¥103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257800" y="39776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¥39.8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766560" y="342900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812280" y="34472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4/16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812280" y="36301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19°/14°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812280" y="38130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¥1,140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812280" y="39776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¥1,070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321040" y="3429000"/>
            <a:ext cx="1508760" cy="731520"/>
          </a:xfrm>
          <a:prstGeom prst="rect">
            <a:avLst/>
          </a:prstGeom>
          <a:solidFill>
            <a:srgbClr val="EAED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8366760" y="34472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4/17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366760" y="36301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20°/16°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366760" y="38130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¥0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8366760" y="39776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¥1,272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9875520" y="3429000"/>
            <a:ext cx="15087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9921240" y="34472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4/18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9921240" y="36301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22°/14°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9921240" y="38130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¥161.9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9921240" y="39776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¥793.9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548640" y="4206240"/>
            <a:ext cx="15087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94360" y="42245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4/19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594360" y="4407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21°/13°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594360" y="45902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¥0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94360" y="4754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¥0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103120" y="4206240"/>
            <a:ext cx="1508760" cy="731520"/>
          </a:xfrm>
          <a:prstGeom prst="rect">
            <a:avLst/>
          </a:prstGeom>
          <a:solidFill>
            <a:srgbClr val="EAED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2148840" y="42245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2148840" y="4407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21°/14°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2148840" y="45902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¥20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2148840" y="4754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¥2,570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3657600" y="420624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3703320" y="42245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4/21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3703320" y="4407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19°/13°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3703320" y="45902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¥2,378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3703320" y="4754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¥529.9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5212080" y="420624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5257800" y="42245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4/22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5257800" y="4407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17°/13°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5257800" y="45902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¥600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5257800" y="4754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¥0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6766560" y="4206240"/>
            <a:ext cx="15087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6812280" y="42245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4/23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6812280" y="4407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15°/12°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6812280" y="45902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¥3,680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6812280" y="4754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¥20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8321040" y="4206240"/>
            <a:ext cx="15087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8366760" y="42245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4/24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8366760" y="4407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21°/9°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8366760" y="45902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¥1,133.4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8366760" y="4754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¥34.9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9875520" y="4206240"/>
            <a:ext cx="15087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9921240" y="42245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4/25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9921240" y="4407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21°/12°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9921240" y="45902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¥3,490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9921240" y="4754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¥20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548640" y="4983480"/>
            <a:ext cx="1508760" cy="731520"/>
          </a:xfrm>
          <a:prstGeom prst="rect">
            <a:avLst/>
          </a:prstGeom>
          <a:solidFill>
            <a:srgbClr val="EAED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594360" y="50017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4/26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594360" y="51846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23°/13°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594360" y="53675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¥59.9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594360" y="55321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¥126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2103120" y="498348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2148840" y="50017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4/27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2148840" y="51846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26°/16°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2148840" y="53675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¥2,000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2148840" y="55321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¥0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3657600" y="498348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3703320" y="50017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4/28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3703320" y="51846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20°/12°</a:t>
            </a:r>
            <a:endParaRPr lang="en-US" sz="800" dirty="0"/>
          </a:p>
        </p:txBody>
      </p:sp>
      <p:sp>
        <p:nvSpPr>
          <p:cNvPr id="149" name="Text 147"/>
          <p:cNvSpPr/>
          <p:nvPr/>
        </p:nvSpPr>
        <p:spPr>
          <a:xfrm>
            <a:off x="3703320" y="53675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¥0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3703320" y="55321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¥0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5212080" y="4983480"/>
            <a:ext cx="1508760" cy="7315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5257800" y="50017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4/29</a:t>
            </a:r>
            <a:endParaRPr lang="en-US" sz="900" dirty="0"/>
          </a:p>
        </p:txBody>
      </p:sp>
      <p:sp>
        <p:nvSpPr>
          <p:cNvPr id="153" name="Text 151"/>
          <p:cNvSpPr/>
          <p:nvPr/>
        </p:nvSpPr>
        <p:spPr>
          <a:xfrm>
            <a:off x="5257800" y="51846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19°/11°</a:t>
            </a:r>
            <a:endParaRPr lang="en-US" sz="800" dirty="0"/>
          </a:p>
        </p:txBody>
      </p:sp>
      <p:sp>
        <p:nvSpPr>
          <p:cNvPr id="154" name="Text 152"/>
          <p:cNvSpPr/>
          <p:nvPr/>
        </p:nvSpPr>
        <p:spPr>
          <a:xfrm>
            <a:off x="5257800" y="53675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 ¥2,900</a:t>
            </a:r>
            <a:endParaRPr lang="en-US" sz="800" dirty="0"/>
          </a:p>
        </p:txBody>
      </p:sp>
      <p:sp>
        <p:nvSpPr>
          <p:cNvPr id="155" name="Text 153"/>
          <p:cNvSpPr/>
          <p:nvPr/>
        </p:nvSpPr>
        <p:spPr>
          <a:xfrm>
            <a:off x="5257800" y="55321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玉 ¥71.8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457200" y="6035040"/>
            <a:ext cx="274320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777240" y="6016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晴天</a:t>
            </a:r>
            <a:endParaRPr lang="en-US" sz="1100" dirty="0"/>
          </a:p>
        </p:txBody>
      </p:sp>
      <p:sp>
        <p:nvSpPr>
          <p:cNvPr id="158" name="Shape 156"/>
          <p:cNvSpPr/>
          <p:nvPr/>
        </p:nvSpPr>
        <p:spPr>
          <a:xfrm>
            <a:off x="2286000" y="6035040"/>
            <a:ext cx="274320" cy="274320"/>
          </a:xfrm>
          <a:prstGeom prst="rect">
            <a:avLst/>
          </a:prstGeom>
          <a:solidFill>
            <a:srgbClr val="EAED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2606040" y="6016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多云/阴</a:t>
            </a:r>
            <a:endParaRPr lang="en-US" sz="1100" dirty="0"/>
          </a:p>
        </p:txBody>
      </p:sp>
      <p:sp>
        <p:nvSpPr>
          <p:cNvPr id="160" name="Shape 158"/>
          <p:cNvSpPr/>
          <p:nvPr/>
        </p:nvSpPr>
        <p:spPr>
          <a:xfrm>
            <a:off x="4114800" y="6035040"/>
            <a:ext cx="274320" cy="274320"/>
          </a:xfrm>
          <a:prstGeom prst="rect">
            <a:avLst/>
          </a:prstGeom>
          <a:solidFill>
            <a:srgbClr val="DDE5F0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4434840" y="6016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 雨天</a:t>
            </a:r>
            <a:endParaRPr lang="en-US" sz="1100" dirty="0"/>
          </a:p>
        </p:txBody>
      </p:sp>
      <p:sp>
        <p:nvSpPr>
          <p:cNvPr id="162" name="Text 160"/>
          <p:cNvSpPr/>
          <p:nvPr/>
        </p:nvSpPr>
        <p:spPr>
          <a:xfrm>
            <a:off x="6400800" y="6035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注：4/22 搬店日（小雨/中雨）｜ 4/30 数据未录入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165" name="Text 163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广电路店  ·  每日业绩走势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REVENUE TREND — APRIL 2026 (含4/22前定安路店)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71600"/>
          <a:ext cx="114300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玉兰店  ·  每日业绩走势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REVENUE TREND — APRIL 2026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71600"/>
          <a:ext cx="114300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员工4月业绩排名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MONTHLY REVENUE RANKING — APRIL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13716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冯艳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¥23,524.8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468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 41.4% · 12/29天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73152" cy="13716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60020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44068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谢利华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4068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¥14,118.3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40680" y="2468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 53.8% · 14/26天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321040" y="146304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21040" y="1463040"/>
            <a:ext cx="73152" cy="13716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0" y="160020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37260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罗容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7260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¥2,562.4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72600" y="2468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 61.5% · 16/26天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73152" cy="1371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10896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B6F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150876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禄文燕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0876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¥2,470.7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3977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 30.8% · 8/26天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297180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89120" y="2971800"/>
            <a:ext cx="73152" cy="1371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0" y="310896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B6F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544068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徐亚英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44068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¥2,030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3977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 33.3% · 3/9天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21040" y="297180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321040" y="2971800"/>
            <a:ext cx="73152" cy="1371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03920" y="310896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B6F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937260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王海燕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37260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¥1,836.6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372600" y="3977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 41.7% · 10/24天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48056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7200" y="4480560"/>
            <a:ext cx="73152" cy="1371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" y="46177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B6F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1508760" y="4663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韦国花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508760" y="5074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¥1,759.9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508760" y="5486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 29.4% · 5/17天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注：金额单位为元（¥）  ·  4月新加入员工：徐亚英（4/21起）、韦国花（4/11起）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员工2026年累计业绩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2026 CUMULATIVE REVENUE RANKING (JAN—APR)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13716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冯艳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¥108,617.8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468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4月新增 ¥23,524.8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73152" cy="13716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60020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44068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谢利华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4068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¥98,984.5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40680" y="2468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4月新增 ¥14,118.3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321040" y="146304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21040" y="1463040"/>
            <a:ext cx="73152" cy="13716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0" y="160020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37260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禄文燕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7260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¥9,230.9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372600" y="2468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4月新增 ¥2,470.7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73152" cy="1371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10896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B6F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150876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罗容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0876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¥7,405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08760" y="3977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4月新增 ¥2,562.4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297180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89120" y="2971800"/>
            <a:ext cx="73152" cy="1371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0" y="310896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B6F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544068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王海燕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44068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¥4,937.6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440680" y="3977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4月新增 ¥1,836.6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21040" y="297180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321040" y="2971800"/>
            <a:ext cx="73152" cy="1371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03920" y="310896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B6F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937260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徐亚英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37260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¥2,030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372600" y="3977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4月新增 ¥2,030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48056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7200" y="4480560"/>
            <a:ext cx="73152" cy="1371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" y="46177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B6F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1508760" y="4663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韦国花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508760" y="5074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¥1,759.9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508760" y="5486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4月新增 ¥1,759.9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员工服务次数 · 成交率统计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COUNT &amp; CONVERSION RATE — APRIL 2026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姓名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项目天数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成交天数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成交率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4月业绩(¥)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2026累计(¥)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冯艳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23,524.8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8A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108,617.8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谢利华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14,118.3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8A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98,984.5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罗容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2,562.4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8A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禄文燕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2,470.7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8A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9,230.9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徐亚英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8A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王海燕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1,836.6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8A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4,937.6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韦国花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8A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486400"/>
            <a:ext cx="2697480" cy="9144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5577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服务总次数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5760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157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94360" y="619963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次（项目）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19272" y="5486400"/>
            <a:ext cx="2697480" cy="9144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56432" y="5577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成交总天数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56432" y="5760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56432" y="619963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</a:t>
            </a:r>
            <a:endParaRPr lang="en-US" sz="900" dirty="0"/>
          </a:p>
        </p:txBody>
      </p:sp>
      <p:sp>
        <p:nvSpPr>
          <p:cNvPr id="4" name="Shape 10"/>
          <p:cNvSpPr/>
          <p:nvPr/>
        </p:nvSpPr>
        <p:spPr>
          <a:xfrm>
            <a:off x="6181344" y="5486400"/>
            <a:ext cx="2697480" cy="9144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18504" y="5577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全员平均成交率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18504" y="5760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43.3%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318504" y="619963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成交天数 ÷ 项目天数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043416" y="5486400"/>
            <a:ext cx="2697480" cy="9144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180576" y="5577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在职员工业绩合计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180576" y="5760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¥48,303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180576" y="619963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（在职7人，不含店长手工）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冯艳老师 · 业绩详情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PERFORMANCE REPORT — APRIL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4月总业绩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¥23,524.8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9272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02152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2026年累计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02152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¥108,617.8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02152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64224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项目天数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64224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64224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43416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43416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26296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26296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41.4%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26296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成交12/29天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亮点业绩 · TOP DAYS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4月12日 · 单日 ¥9,020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4月23日 · 单日 ¥3,680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5840" y="4389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4月4日 · 单日 ¥2,980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主要服务项目 · TOP SERVICES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5486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头浴（27次）    ·    背（13次）    ·    清洁（11次）    ·    臀（9次）    ·    肚子（6次）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2971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每日业绩走势（元）</a:t>
            </a:r>
            <a:endParaRPr lang="en-US" sz="14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6126480" y="3337560"/>
          <a:ext cx="57607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Shape 3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谢利华老师 · 业绩详情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PERFORMANCE REPORT — APRIL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4月总业绩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¥14,118.3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9272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02152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2026年累计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02152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¥98,984.5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02152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64224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项目天数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64224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64224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43416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43416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26296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26296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53.8%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26296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成交14/26天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亮点业绩 · TOP DAYS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4月25日 · 单日 ¥3,150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4月2日 · 单日 ¥3,040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5840" y="4389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4月3日 · 单日 ¥2,330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主要服务项目 · TOP SERVICES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5486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头浴（24次）    ·    臀（6次）    ·    背（6次）    ·    清洁（4次）    ·    肩颈（2次）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2971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每日业绩走势（元）</a:t>
            </a:r>
            <a:endParaRPr lang="en-US" sz="14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6126480" y="3337560"/>
          <a:ext cx="57607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Shape 3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罗容老师 · 业绩详情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PERFORMANCE REPORT — APRIL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4月总业绩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¥2,562.4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9272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02152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2026年累计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02152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¥7,405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02152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64224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项目天数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64224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64224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43416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43416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26296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26296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61.5%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26296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成交16/26天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亮点业绩 · TOP DAYS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4月1日 · 单日 ¥770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4月17日 · 单日 ¥600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5840" y="4389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4月21日 · 单日 ¥500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主要服务项目 · TOP SERVICES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5486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头浴（26次）    ·    清洁（4次）    ·    腰（1次）    ·    腿（1次）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2971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每日业绩走势（元）</a:t>
            </a:r>
            <a:endParaRPr lang="en-US" sz="14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6126480" y="3337560"/>
          <a:ext cx="57607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Shape 3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禄文燕老师 · 业绩详情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PERFORMANCE REPORT — APRIL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4月总业绩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¥2,470.7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9272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02152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2026年累计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02152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¥9,230.9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02152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64224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项目天数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64224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64224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43416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43416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26296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26296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30.8%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26296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成交8/26天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亮点业绩 · TOP DAYS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4月3日 · 单日 ¥800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4月6日 · 单日 ¥750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5840" y="4389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4月17日 · 单日 ¥600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主要服务项目 · TOP SERVICES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5486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头浴（25次）    ·    背（4次）    ·    臀（1次）    ·    清洁（1次）    ·    肚子（1次）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2971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每日业绩走势（元）</a:t>
            </a:r>
            <a:endParaRPr lang="en-US" sz="14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6126480" y="3337560"/>
          <a:ext cx="57607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Shape 3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徐亚英老师 · 业绩详情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PERFORMANCE REPORT — APRIL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4月总业绩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¥2,030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9272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02152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2026年累计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02152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¥2,030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02152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64224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项目天数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64224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64224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43416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43416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26296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26296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33.3%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26296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成交3/9天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亮点业绩 · TOP DAYS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4月21日 · 单日 ¥1,980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4月25日 · 单日 ¥40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5840" y="4389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4月27日 · 单日 ¥10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主要服务项目 · TOP SERVICES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5486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头浴（9次）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2971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每日业绩走势（元）</a:t>
            </a:r>
            <a:endParaRPr lang="en-US" sz="14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6126480" y="3337560"/>
          <a:ext cx="57607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Shape 3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王海燕老师 · 业绩详情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PERFORMANCE REPORT — APRIL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4月总业绩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¥1,836.6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9272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02152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2026年累计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02152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¥4,937.6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02152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64224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项目天数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64224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64224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43416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43416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26296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26296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41.7%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26296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成交10/24天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亮点业绩 · TOP DAYS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4月4日 · 单日 ¥820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4月18日 · 单日 ¥700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5840" y="4389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4月26日 · 单日 ¥63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主要服务项目 · TOP SERVICES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5486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头浴（24次）    ·    背（6次）    ·    清洁（3次）    ·    腿（1次）    ·    肚子（1次）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2971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每日业绩走势（元）</a:t>
            </a:r>
            <a:endParaRPr lang="en-US" sz="14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6126480" y="3337560"/>
          <a:ext cx="57607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Shape 3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韦国花老师 · 业绩详情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PERFORMANCE REPORT — APRIL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4月总业绩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¥1,759.9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9272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02152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2026年累计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02152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¥1,759.9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02152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64224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项目天数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64224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64224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43416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43416" y="1417320"/>
            <a:ext cx="26974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26296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26296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29.4%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26296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成交5/17天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亮点业绩 · TOP DAYS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4月29日 · 单日 ¥900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4月11日 · 单日 ¥500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73152" cy="4572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5840" y="4389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4月25日 · 单日 ¥300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主要服务项目 · TOP SERVICES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5486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头浴（17次）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2971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每日业绩走势（元）</a:t>
            </a:r>
            <a:endParaRPr lang="en-US" sz="14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6126480" y="3337560"/>
          <a:ext cx="57607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Shape 3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本月业绩汇总 · 关键指标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 — APRIL 2026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24688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广电路店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玉兰店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4月本月业绩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¥47,460.5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¥52,690.7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8A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¥100,151.2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2026年累计业绩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¥264,339.3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¥127,559.3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8A0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¥391,898.6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月最高单日业绩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¥11,059（4/12）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¥31,350（4/8）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月度成交天数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24/29 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22/29 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店铺日均业绩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¥1817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1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¥3453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23360"/>
            <a:ext cx="5486400" cy="118872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本月冠军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4434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冯艳    ¥23,524.8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成交率 41.4%  ·  最佳单日 ¥9,020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4023360"/>
            <a:ext cx="5486400" cy="1188720"/>
          </a:xfrm>
          <a:prstGeom prst="rect">
            <a:avLst/>
          </a:prstGeom>
          <a:solidFill>
            <a:srgbClr val="C8A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0" y="4114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2026累计王者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0" y="4434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冯艳    ¥108,617.8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0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2026年累计领跑全店 · 一月至四月稳定输出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5349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月度亮点 · KEY TAKEAWAYS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4/22 完成 定安路 → 广电路 整店搬迁，搬店后日均业绩 +8.3%；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雨天反成业绩主力（广电路雨天日均 ¥2,088.39），全月15个雨天合计贡献 ¥68,021.8；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玉兰店 4/8 单日突破 ¥31,350，创全月最高；广电路店 4/12 单日 ¥11,059 为搬店前峰值；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新员工 徐亚英(4/21起)、韦国花(4/11起) 加入，分别贡献 ¥2,030 / ¥1,759.9，注入新动能。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· 2026年4月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881360" y="6583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C8A064">
              <a:alpha val="30000"/>
            </a:srgbClr>
          </a:solidFill>
          <a:ln w="12700">
            <a:solidFill>
              <a:srgbClr val="C8A06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18320" y="-1828800"/>
            <a:ext cx="4572000" cy="4572000"/>
          </a:xfrm>
          <a:prstGeom prst="ellipse">
            <a:avLst/>
          </a:prstGeom>
          <a:solidFill>
            <a:srgbClr val="A26769">
              <a:alpha val="40000"/>
            </a:srgbClr>
          </a:solidFill>
          <a:ln w="12700">
            <a:solidFill>
              <a:srgbClr val="A2676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感谢每一位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美 丽 的 付 出 与 努 力 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94960" y="3931920"/>
            <a:ext cx="1371600" cy="36576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妆宜美容生活馆  ·  2026年4月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广电路店  ·  玉兰店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A0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五月再创佳绩 ✦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2085</Words>
  <Application>Microsoft Macintosh PowerPoint</Application>
  <PresentationFormat>Widescreen</PresentationFormat>
  <Paragraphs>679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妆宜美容生活馆 2026年4月业绩汇报</dc:title>
  <dc:subject>PptxGenJS Presentation</dc:subject>
  <dc:creator>妆宜美容生活馆</dc:creator>
  <cp:lastModifiedBy>Jiang, Zicong (Student)</cp:lastModifiedBy>
  <cp:revision>1</cp:revision>
  <dcterms:created xsi:type="dcterms:W3CDTF">2026-04-29T22:58:04Z</dcterms:created>
  <dcterms:modified xsi:type="dcterms:W3CDTF">2026-04-29T22:58:57Z</dcterms:modified>
</cp:coreProperties>
</file>